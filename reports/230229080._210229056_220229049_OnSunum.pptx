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F00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6067" autoAdjust="0"/>
  </p:normalViewPr>
  <p:slideViewPr>
    <p:cSldViewPr snapToGrid="0" snapToObjects="1">
      <p:cViewPr>
        <p:scale>
          <a:sx n="111" d="100"/>
          <a:sy n="111" d="100"/>
        </p:scale>
        <p:origin x="656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9200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7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80067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200" b="1" kern="0" spc="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MADENCİLİĞİ DERSİ DÖNEM PROJESİ ÖN SUNUMU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E-Ticaret Yorumlarında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Aspect-Based Duygu Analizi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Trendyol elektronik kategorisinde ürün boyutları (kargo, kalite, batarya, </a:t>
            </a:r>
            <a:r>
              <a:rPr lang="tr-TR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medya, ambalaj ve hizmet</a:t>
            </a: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bazında duygu sınıflandırması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0" y="4572000"/>
            <a:ext cx="4846320" cy="1691640"/>
          </a:xfrm>
          <a:prstGeom prst="rect">
            <a:avLst/>
          </a:prstGeom>
          <a:solidFill>
            <a:schemeClr val="tx1"/>
          </a:solidFill>
          <a:ln w="12700">
            <a:solidFill>
              <a:srgbClr val="A26769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Text 7"/>
          <p:cNvSpPr/>
          <p:nvPr/>
        </p:nvSpPr>
        <p:spPr>
          <a:xfrm>
            <a:off x="70408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kern="0" spc="4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EKİP</a:t>
            </a:r>
            <a:endParaRPr lang="en-US" sz="1000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040880" y="49377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Dilara Çatalçam</a:t>
            </a:r>
            <a:endParaRPr lang="en-US" sz="1300" dirty="0"/>
          </a:p>
          <a:p>
            <a:pPr marL="0" indent="0">
              <a:buNone/>
            </a:pPr>
            <a:r>
              <a:rPr lang="en-US" sz="1000" i="1" dirty="0">
                <a:solidFill>
                  <a:schemeClr val="bg1"/>
                </a:solidFill>
              </a:rPr>
              <a:t>210229056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Ahmet Çağlar</a:t>
            </a:r>
            <a:endParaRPr lang="en-US" sz="1300" dirty="0"/>
          </a:p>
          <a:p>
            <a:pPr marL="0" indent="0">
              <a:buNone/>
            </a:pPr>
            <a:r>
              <a:rPr lang="en-US" sz="1000" i="1" dirty="0">
                <a:solidFill>
                  <a:schemeClr val="bg1"/>
                </a:solidFill>
              </a:rPr>
              <a:t>230229080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İbrahim Biner</a:t>
            </a:r>
            <a:endParaRPr lang="en-US" sz="1300" dirty="0"/>
          </a:p>
          <a:p>
            <a:pPr marL="0" indent="0">
              <a:buNone/>
            </a:pPr>
            <a:r>
              <a:rPr lang="en-US" sz="1000" i="1" dirty="0">
                <a:solidFill>
                  <a:schemeClr val="bg1"/>
                </a:solidFill>
              </a:rPr>
              <a:t>220229049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45720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"Kamerası harika ama bataryası bir günü zor götürüyor, kargo hızlıydı."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5212080"/>
            <a:ext cx="17830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D7A4F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Text 11"/>
          <p:cNvSpPr/>
          <p:nvPr/>
        </p:nvSpPr>
        <p:spPr>
          <a:xfrm>
            <a:off x="822960" y="52852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5C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5623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POZ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743200" y="5212080"/>
            <a:ext cx="17830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B8423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Text 14"/>
          <p:cNvSpPr/>
          <p:nvPr/>
        </p:nvSpPr>
        <p:spPr>
          <a:xfrm>
            <a:off x="2743200" y="52852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5C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BATARYA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0" y="5623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4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663440" y="5212080"/>
            <a:ext cx="17830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D7A4F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9" name="Text 17"/>
          <p:cNvSpPr/>
          <p:nvPr/>
        </p:nvSpPr>
        <p:spPr>
          <a:xfrm>
            <a:off x="4663440" y="52852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5C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KARGO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5623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POZ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FF7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>
              <a:solidFill>
                <a:srgbClr val="FF7F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051560" y="411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7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 Tanıtımı</a:t>
            </a:r>
            <a:endParaRPr lang="en-US" sz="3200" dirty="0">
              <a:solidFill>
                <a:srgbClr val="FF7F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5156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Trendyol elektronik kategorisinden web scraping ile toplanan dengeli yorum veri seti</a:t>
            </a:r>
            <a:endParaRPr lang="en-US" sz="1300" dirty="0">
              <a:solidFill>
                <a:srgbClr val="FF7F0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029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91440" cy="914400"/>
          </a:xfrm>
          <a:prstGeom prst="rect">
            <a:avLst/>
          </a:prstGeom>
          <a:solidFill>
            <a:srgbClr val="FF7F00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7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1.500</a:t>
            </a:r>
            <a:endParaRPr lang="en-US" sz="3400" dirty="0">
              <a:solidFill>
                <a:srgbClr val="FF7F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2468880" y="1600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Yorum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1965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ürün × 250 yorum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487168"/>
            <a:ext cx="5029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Shape 9"/>
          <p:cNvSpPr/>
          <p:nvPr/>
        </p:nvSpPr>
        <p:spPr>
          <a:xfrm>
            <a:off x="457200" y="2487168"/>
            <a:ext cx="91440" cy="914400"/>
          </a:xfrm>
          <a:prstGeom prst="rect">
            <a:avLst/>
          </a:prstGeom>
          <a:solidFill>
            <a:srgbClr val="FF7F00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Text 10"/>
          <p:cNvSpPr/>
          <p:nvPr/>
        </p:nvSpPr>
        <p:spPr>
          <a:xfrm>
            <a:off x="777240" y="257860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7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400" dirty="0">
              <a:solidFill>
                <a:srgbClr val="FF7F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2468880" y="26243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Elektronik Ürün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29900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 · kulaklık · bilgisayar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511296"/>
            <a:ext cx="5029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Shape 14"/>
          <p:cNvSpPr/>
          <p:nvPr/>
        </p:nvSpPr>
        <p:spPr>
          <a:xfrm>
            <a:off x="457200" y="3511296"/>
            <a:ext cx="91440" cy="914400"/>
          </a:xfrm>
          <a:prstGeom prst="rect">
            <a:avLst/>
          </a:prstGeom>
          <a:solidFill>
            <a:srgbClr val="FF7F00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Text 15"/>
          <p:cNvSpPr/>
          <p:nvPr/>
        </p:nvSpPr>
        <p:spPr>
          <a:xfrm>
            <a:off x="777240" y="3602736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7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400" dirty="0">
              <a:solidFill>
                <a:srgbClr val="FF7F0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2468880" y="36484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Niteliği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68880" y="40142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metin, puan, tarih, kategori, …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535424"/>
            <a:ext cx="5029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" name="Shape 19"/>
          <p:cNvSpPr/>
          <p:nvPr/>
        </p:nvSpPr>
        <p:spPr>
          <a:xfrm>
            <a:off x="457200" y="4535424"/>
            <a:ext cx="91440" cy="914400"/>
          </a:xfrm>
          <a:prstGeom prst="rect">
            <a:avLst/>
          </a:prstGeom>
          <a:solidFill>
            <a:srgbClr val="FF7F00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" name="Text 20"/>
          <p:cNvSpPr/>
          <p:nvPr/>
        </p:nvSpPr>
        <p:spPr>
          <a:xfrm>
            <a:off x="777240" y="4626864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7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400" dirty="0">
              <a:solidFill>
                <a:srgbClr val="FF7F00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2468880" y="46725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 Veri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468880" y="503834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hiçbir sütunda boş yok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0" y="1463040"/>
            <a:ext cx="5852160" cy="4544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26" name="Text 24"/>
          <p:cNvSpPr/>
          <p:nvPr/>
        </p:nvSpPr>
        <p:spPr>
          <a:xfrm>
            <a:off x="612648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NİTELİKLERİ</a:t>
            </a:r>
            <a:endParaRPr lang="en-US" sz="1000" dirty="0">
              <a:solidFill>
                <a:srgbClr val="FF7F00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035040" y="1920240"/>
            <a:ext cx="5669280" cy="36576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8" name="Text 26"/>
          <p:cNvSpPr/>
          <p:nvPr/>
        </p:nvSpPr>
        <p:spPr>
          <a:xfrm>
            <a:off x="6172200" y="1965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900" dirty="0">
              <a:solidFill>
                <a:srgbClr val="FF7F00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7955280" y="1965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 metni (girdi/feature)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72200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filter_rating</a:t>
            </a:r>
            <a:endParaRPr lang="en-US" sz="900" dirty="0">
              <a:solidFill>
                <a:srgbClr val="FF7F00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7955280" y="2331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Yıldız puanı (1-5, gerçek etiket)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35040" y="2651760"/>
            <a:ext cx="5669280" cy="36576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3" name="Text 31"/>
          <p:cNvSpPr/>
          <p:nvPr/>
        </p:nvSpPr>
        <p:spPr>
          <a:xfrm>
            <a:off x="6172200" y="2697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</a:t>
            </a:r>
            <a:endParaRPr lang="en-US" sz="900" dirty="0">
              <a:solidFill>
                <a:srgbClr val="FF7F00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7955280" y="2697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HTML'den parse edilen puan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72200" y="3063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sentiment</a:t>
            </a:r>
            <a:endParaRPr lang="en-US" sz="900" dirty="0">
              <a:solidFill>
                <a:srgbClr val="FF7F00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7955280" y="3063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Sözlük-bazlı etiket (POZ/NEG/NOTR)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35040" y="3383280"/>
            <a:ext cx="5669280" cy="36576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8" name="Text 36"/>
          <p:cNvSpPr/>
          <p:nvPr/>
        </p:nvSpPr>
        <p:spPr>
          <a:xfrm>
            <a:off x="6172200" y="3429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aspects</a:t>
            </a:r>
            <a:endParaRPr lang="en-US" sz="900" dirty="0">
              <a:solidFill>
                <a:srgbClr val="FF7F00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7955280" y="3429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KARGO|KALİTE|FİYAT|… (multi-label)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72200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product_name</a:t>
            </a:r>
            <a:endParaRPr lang="en-US" sz="900" dirty="0">
              <a:solidFill>
                <a:srgbClr val="FF7F00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7955280" y="3794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adı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035040" y="4114800"/>
            <a:ext cx="5669280" cy="36576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3" name="Text 41"/>
          <p:cNvSpPr/>
          <p:nvPr/>
        </p:nvSpPr>
        <p:spPr>
          <a:xfrm>
            <a:off x="6172200" y="4160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endParaRPr lang="en-US" sz="900" dirty="0">
              <a:solidFill>
                <a:srgbClr val="FF7F00"/>
              </a:solidFill>
            </a:endParaRPr>
          </a:p>
        </p:txBody>
      </p:sp>
      <p:sp>
        <p:nvSpPr>
          <p:cNvPr id="44" name="Text 42"/>
          <p:cNvSpPr/>
          <p:nvPr/>
        </p:nvSpPr>
        <p:spPr>
          <a:xfrm>
            <a:off x="7955280" y="4160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 · Kulaklık · Bilgisayar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172200" y="4526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900" dirty="0">
              <a:solidFill>
                <a:srgbClr val="FF7F00"/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7955280" y="4526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 tarihi (yyyy-mm-dd)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035040" y="4846320"/>
            <a:ext cx="5669280" cy="36576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8" name="Text 46"/>
          <p:cNvSpPr/>
          <p:nvPr/>
        </p:nvSpPr>
        <p:spPr>
          <a:xfrm>
            <a:off x="6172200" y="4892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seller</a:t>
            </a:r>
            <a:endParaRPr lang="en-US" sz="900" dirty="0">
              <a:solidFill>
                <a:srgbClr val="FF7F00"/>
              </a:solidFill>
            </a:endParaRPr>
          </a:p>
        </p:txBody>
      </p:sp>
      <p:sp>
        <p:nvSpPr>
          <p:cNvPr id="49" name="Text 47"/>
          <p:cNvSpPr/>
          <p:nvPr/>
        </p:nvSpPr>
        <p:spPr>
          <a:xfrm>
            <a:off x="7955280" y="4892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Satıcı adı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172200" y="5257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likes</a:t>
            </a:r>
            <a:endParaRPr lang="en-US" sz="900" dirty="0">
              <a:solidFill>
                <a:srgbClr val="FF7F00"/>
              </a:solidFill>
            </a:endParaRPr>
          </a:p>
        </p:txBody>
      </p:sp>
      <p:sp>
        <p:nvSpPr>
          <p:cNvPr id="51" name="Text 49"/>
          <p:cNvSpPr/>
          <p:nvPr/>
        </p:nvSpPr>
        <p:spPr>
          <a:xfrm>
            <a:off x="7955280" y="5257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 beğeni sayısı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035040" y="5577840"/>
            <a:ext cx="5669280" cy="36576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3" name="Text 51"/>
          <p:cNvSpPr/>
          <p:nvPr/>
        </p:nvSpPr>
        <p:spPr>
          <a:xfrm>
            <a:off x="6172200" y="5623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900" dirty="0">
              <a:solidFill>
                <a:srgbClr val="FF7F00"/>
              </a:solidFill>
            </a:endParaRPr>
          </a:p>
        </p:txBody>
      </p:sp>
      <p:sp>
        <p:nvSpPr>
          <p:cNvPr id="54" name="Text 52"/>
          <p:cNvSpPr/>
          <p:nvPr/>
        </p:nvSpPr>
        <p:spPr>
          <a:xfrm>
            <a:off x="7955280" y="5623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adı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7200" y="6126480"/>
            <a:ext cx="11338560" cy="274320"/>
          </a:xfrm>
          <a:prstGeom prst="rect">
            <a:avLst/>
          </a:prstGeom>
          <a:solidFill>
            <a:srgbClr val="FF7F00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6" name="Text 54"/>
          <p:cNvSpPr/>
          <p:nvPr/>
        </p:nvSpPr>
        <p:spPr>
          <a:xfrm>
            <a:off x="64008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Toplama Yöntemi:  Selenium + BeautifulSoup ile otomatik tarayıcı kontrolü, puan filtresi otomasyonu (her ürün için 1-5 yıldız ayrı ayrı çekildi) ve infinite scroll yönetimi.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>
              <a:solidFill>
                <a:srgbClr val="FF7F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FF7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>
              <a:solidFill>
                <a:srgbClr val="FF7F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051560" y="411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7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 İnceleme &amp; Dağılımlar</a:t>
            </a:r>
            <a:endParaRPr lang="en-US" sz="3200" dirty="0">
              <a:solidFill>
                <a:srgbClr val="FF7F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5156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Keşifsel veri analizi (EDA) sonuçları — sınıf dengesi, aspect dağılımı, yorum uzunluğu</a:t>
            </a:r>
            <a:endParaRPr lang="en-US" sz="1300" dirty="0">
              <a:solidFill>
                <a:srgbClr val="FF7F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Puan Dağılımı (1-5 yıldız)</a:t>
            </a:r>
            <a:endParaRPr lang="en-US" sz="1200" dirty="0"/>
          </a:p>
        </p:txBody>
      </p:sp>
      <p:pic>
        <p:nvPicPr>
          <p:cNvPr id="6" name="Image 0" descr="visuals/02_puan_dagilim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5760720" cy="2331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0" y="1417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Aspect Dağılımı (multi-label)</a:t>
            </a:r>
            <a:endParaRPr lang="en-US" sz="1200" dirty="0"/>
          </a:p>
        </p:txBody>
      </p:sp>
      <p:pic>
        <p:nvPicPr>
          <p:cNvPr id="8" name="Image 1" descr="visuals/04_aspect_dagilim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691640"/>
            <a:ext cx="5394960" cy="23317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41605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 Uzunluk Dağılımı (kelime)</a:t>
            </a:r>
            <a:endParaRPr lang="en-US" sz="1200" dirty="0"/>
          </a:p>
        </p:txBody>
      </p:sp>
      <p:pic>
        <p:nvPicPr>
          <p:cNvPr id="10" name="Image 2" descr="visuals/01_yorum_uzunluk_dagilim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434840"/>
            <a:ext cx="5760720" cy="18288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0" y="4160520"/>
            <a:ext cx="5394960" cy="2103120"/>
          </a:xfrm>
          <a:prstGeom prst="rect">
            <a:avLst/>
          </a:prstGeom>
          <a:solidFill>
            <a:srgbClr val="FF7F00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Text 7"/>
          <p:cNvSpPr/>
          <p:nvPr/>
        </p:nvSpPr>
        <p:spPr>
          <a:xfrm>
            <a:off x="6583680" y="4297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ÖNEMLİ BULGULAR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3" name="Text 8"/>
          <p:cNvSpPr/>
          <p:nvPr/>
        </p:nvSpPr>
        <p:spPr>
          <a:xfrm>
            <a:off x="6583680" y="461772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Dengeli puan dağılımı: </a:t>
            </a:r>
            <a:r>
              <a:rPr lang="en-US" sz="1100" dirty="0">
                <a:solidFill>
                  <a:srgbClr val="ECE2D0"/>
                </a:solidFill>
              </a:rPr>
              <a:t>Her puandan ≥163 yorum (toplam 1500). Klasik scrape'te 5⭐ baskınlığı (~%80) yerine %33.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Aspect baskınlığı: </a:t>
            </a:r>
            <a:r>
              <a:rPr lang="en-US" sz="1100" dirty="0">
                <a:solidFill>
                  <a:srgbClr val="ECE2D0"/>
                </a:solidFill>
              </a:rPr>
              <a:t>GENEL (%43) ve KARGO (%29) en sık. FIYAT/AMBALAJ az → sözlük genişletilmeli.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Yorum uzunluğu: </a:t>
            </a:r>
            <a:r>
              <a:rPr lang="en-US" sz="1100" dirty="0">
                <a:solidFill>
                  <a:srgbClr val="ECE2D0"/>
                </a:solidFill>
              </a:rPr>
              <a:t>Medyan ~10 kelime. Negatif yorumlar daha uzun (kullanıcı şikayetini detaylandırıyor).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051560" y="411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 Ön İşleme</a:t>
            </a:r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5156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EDA'da tespit edilen kritik etiketleme sorunu ve çözümü, ön işleme adımları</a:t>
            </a:r>
            <a:endParaRPr lang="en-US" sz="1300" dirty="0">
              <a:solidFill>
                <a:schemeClr val="accent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Sözlük-Bazlı Etiketler ne kadar doğru?</a:t>
            </a:r>
            <a:endParaRPr lang="en-US" sz="1200" dirty="0"/>
          </a:p>
        </p:txBody>
      </p:sp>
      <p:pic>
        <p:nvPicPr>
          <p:cNvPr id="6" name="Image 0" descr="visuals/06_sentiment_rating_uy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7132320" cy="2468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2062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1⭐ yorumların yalnızca %25'i NEG; %63'ü NOTR, %12'si POZ </a:t>
            </a:r>
            <a:r>
              <a:rPr lang="en-US" sz="1000" i="1" dirty="0" err="1">
                <a:solidFill>
                  <a:srgbClr val="5C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olarak</a:t>
            </a:r>
            <a:r>
              <a:rPr lang="en-US" sz="1000" i="1" dirty="0">
                <a:solidFill>
                  <a:srgbClr val="5C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5C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etiketlendi</a:t>
            </a:r>
            <a:r>
              <a:rPr lang="tr-TR" sz="1000" i="1" dirty="0">
                <a:solidFill>
                  <a:srgbClr val="5C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772400" y="1417320"/>
            <a:ext cx="4023360" cy="3017520"/>
          </a:xfrm>
          <a:prstGeom prst="rect">
            <a:avLst/>
          </a:prstGeom>
          <a:solidFill>
            <a:srgbClr val="FF7F00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Text 6"/>
          <p:cNvSpPr/>
          <p:nvPr/>
        </p:nvSpPr>
        <p:spPr>
          <a:xfrm>
            <a:off x="7909560" y="1554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ÇÖZÜM: </a:t>
            </a:r>
            <a:r>
              <a:rPr lang="en-US" sz="1000" b="1" kern="0" spc="3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r>
              <a:rPr lang="en-US" sz="1000" b="1" kern="0" spc="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-BAZLI MANUEL ETİKETLEME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7909560" y="1874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Her </a:t>
            </a:r>
            <a:r>
              <a:rPr lang="en-US" sz="1000" i="1" dirty="0" err="1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yorum</a:t>
            </a: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için</a:t>
            </a: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 her </a:t>
            </a:r>
            <a:r>
              <a:rPr lang="en-US" sz="1000" i="1" dirty="0" err="1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boyut</a:t>
            </a: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ayrı</a:t>
            </a: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etiketlenecek</a:t>
            </a: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: 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7909560" y="2491740"/>
            <a:ext cx="374904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B8423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Text 9"/>
          <p:cNvSpPr/>
          <p:nvPr/>
        </p:nvSpPr>
        <p:spPr>
          <a:xfrm>
            <a:off x="8046720" y="2560320"/>
            <a:ext cx="2799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1419"/>
                </a:solidFill>
                <a:latin typeface="Georgia" panose="02040502050405020303" pitchFamily="18" charset="0"/>
                <a:cs typeface="Calibri" pitchFamily="34" charset="-120"/>
              </a:rPr>
              <a:t>“</a:t>
            </a:r>
            <a:r>
              <a:rPr lang="en-US" sz="1300" dirty="0" err="1">
                <a:solidFill>
                  <a:srgbClr val="2B1419"/>
                </a:solidFill>
                <a:latin typeface="Georgia" panose="02040502050405020303" pitchFamily="18" charset="0"/>
                <a:cs typeface="Calibri" pitchFamily="34" charset="-120"/>
              </a:rPr>
              <a:t>Hızlı</a:t>
            </a:r>
            <a:r>
              <a:rPr lang="en-US" sz="1300" dirty="0">
                <a:solidFill>
                  <a:srgbClr val="2B1419"/>
                </a:solidFill>
                <a:latin typeface="Georgia" panose="02040502050405020303" pitchFamily="18" charset="0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1419"/>
                </a:solidFill>
                <a:latin typeface="Georgia" panose="02040502050405020303" pitchFamily="18" charset="0"/>
                <a:cs typeface="Calibri" pitchFamily="34" charset="-120"/>
              </a:rPr>
              <a:t>geldi</a:t>
            </a:r>
            <a:r>
              <a:rPr lang="en-US" sz="1300" dirty="0">
                <a:solidFill>
                  <a:srgbClr val="2B1419"/>
                </a:solidFill>
                <a:latin typeface="Georgia" panose="02040502050405020303" pitchFamily="18" charset="0"/>
                <a:cs typeface="Calibri" pitchFamily="34" charset="-120"/>
              </a:rPr>
              <a:t> ama </a:t>
            </a:r>
            <a:r>
              <a:rPr lang="en-US" sz="1300" dirty="0" err="1">
                <a:solidFill>
                  <a:srgbClr val="2B1419"/>
                </a:solidFill>
                <a:latin typeface="Georgia" panose="02040502050405020303" pitchFamily="18" charset="0"/>
                <a:cs typeface="Calibri" pitchFamily="34" charset="-120"/>
              </a:rPr>
              <a:t>bataryası</a:t>
            </a:r>
            <a:r>
              <a:rPr lang="en-US" sz="1300" dirty="0">
                <a:solidFill>
                  <a:srgbClr val="2B1419"/>
                </a:solidFill>
                <a:latin typeface="Georgia" panose="02040502050405020303" pitchFamily="18" charset="0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1419"/>
                </a:solidFill>
                <a:latin typeface="Georgia" panose="02040502050405020303" pitchFamily="18" charset="0"/>
                <a:cs typeface="Calibri" pitchFamily="34" charset="-120"/>
              </a:rPr>
              <a:t>kötü</a:t>
            </a:r>
            <a:r>
              <a:rPr lang="en-US" sz="1300" dirty="0">
                <a:solidFill>
                  <a:srgbClr val="2B1419"/>
                </a:solidFill>
                <a:latin typeface="Georgia" panose="02040502050405020303" pitchFamily="18" charset="0"/>
                <a:cs typeface="Calibri" pitchFamily="34" charset="-120"/>
              </a:rPr>
              <a:t>”</a:t>
            </a:r>
            <a:endParaRPr lang="en-US" sz="1300" dirty="0">
              <a:latin typeface="Georgia" panose="02040502050405020303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601200" y="2560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241280" y="3188505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4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909560" y="3108960"/>
            <a:ext cx="374904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C8A862"/>
            </a:solidFill>
            <a:prstDash val="solid"/>
          </a:ln>
        </p:spPr>
        <p:txBody>
          <a:bodyPr/>
          <a:lstStyle/>
          <a:p>
            <a:endParaRPr lang="en-TR" dirty="0"/>
          </a:p>
        </p:txBody>
      </p:sp>
      <p:sp>
        <p:nvSpPr>
          <p:cNvPr id="16" name="Text 13"/>
          <p:cNvSpPr/>
          <p:nvPr/>
        </p:nvSpPr>
        <p:spPr>
          <a:xfrm>
            <a:off x="8046720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419"/>
                </a:solidFill>
                <a:latin typeface="Calibri" pitchFamily="34" charset="0"/>
                <a:cs typeface="Calibri" pitchFamily="34" charset="-120"/>
              </a:rPr>
              <a:t>KARGO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601200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4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058400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909560" y="3739896"/>
            <a:ext cx="374904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2D7A4F"/>
            </a:solidFill>
            <a:prstDash val="solid"/>
          </a:ln>
        </p:spPr>
        <p:txBody>
          <a:bodyPr/>
          <a:lstStyle/>
          <a:p>
            <a:endParaRPr lang="en-TR" dirty="0"/>
          </a:p>
        </p:txBody>
      </p:sp>
      <p:sp>
        <p:nvSpPr>
          <p:cNvPr id="20" name="Text 17"/>
          <p:cNvSpPr/>
          <p:nvPr/>
        </p:nvSpPr>
        <p:spPr>
          <a:xfrm>
            <a:off x="8046720" y="3840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419"/>
                </a:solidFill>
                <a:latin typeface="Calibri" pitchFamily="34" charset="0"/>
                <a:cs typeface="Calibri" pitchFamily="34" charset="-120"/>
              </a:rPr>
              <a:t>BATARYA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601200" y="3840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4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990526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POZ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57200" y="475488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7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Planlanan Ön İşleme Adımları</a:t>
            </a:r>
            <a:endParaRPr lang="en-US" sz="1400" dirty="0">
              <a:solidFill>
                <a:srgbClr val="FF7F00"/>
              </a:solidFill>
            </a:endParaRPr>
          </a:p>
        </p:txBody>
      </p:sp>
      <p:sp>
        <p:nvSpPr>
          <p:cNvPr id="24" name="Shape 21"/>
          <p:cNvSpPr/>
          <p:nvPr/>
        </p:nvSpPr>
        <p:spPr>
          <a:xfrm>
            <a:off x="457200" y="5166360"/>
            <a:ext cx="222199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5" name="Text 22"/>
          <p:cNvSpPr/>
          <p:nvPr/>
        </p:nvSpPr>
        <p:spPr>
          <a:xfrm>
            <a:off x="594360" y="52303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7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>
              <a:solidFill>
                <a:srgbClr val="FF7F00"/>
              </a:solidFill>
            </a:endParaRPr>
          </a:p>
        </p:txBody>
      </p:sp>
      <p:sp>
        <p:nvSpPr>
          <p:cNvPr id="26" name="Text 23"/>
          <p:cNvSpPr/>
          <p:nvPr/>
        </p:nvSpPr>
        <p:spPr>
          <a:xfrm>
            <a:off x="594360" y="5577840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 Temizleme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94360" y="585216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noktalama, fazla boşluk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2724912" y="5166360"/>
            <a:ext cx="222199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9" name="Text 26"/>
          <p:cNvSpPr/>
          <p:nvPr/>
        </p:nvSpPr>
        <p:spPr>
          <a:xfrm>
            <a:off x="2862072" y="52303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7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>
              <a:solidFill>
                <a:srgbClr val="FF7F00"/>
              </a:solidFill>
            </a:endParaRPr>
          </a:p>
        </p:txBody>
      </p:sp>
      <p:sp>
        <p:nvSpPr>
          <p:cNvPr id="30" name="Text 27"/>
          <p:cNvSpPr/>
          <p:nvPr/>
        </p:nvSpPr>
        <p:spPr>
          <a:xfrm>
            <a:off x="2862072" y="5577840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Words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862072" y="585216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duraklama kelimeleri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992624" y="5166360"/>
            <a:ext cx="222199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3" name="Text 30"/>
          <p:cNvSpPr/>
          <p:nvPr/>
        </p:nvSpPr>
        <p:spPr>
          <a:xfrm>
            <a:off x="5129784" y="52303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7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>
              <a:solidFill>
                <a:srgbClr val="FF7F00"/>
              </a:solidFill>
            </a:endParaRPr>
          </a:p>
        </p:txBody>
      </p:sp>
      <p:sp>
        <p:nvSpPr>
          <p:cNvPr id="34" name="Text 31"/>
          <p:cNvSpPr/>
          <p:nvPr/>
        </p:nvSpPr>
        <p:spPr>
          <a:xfrm>
            <a:off x="5129784" y="5577840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1419"/>
                </a:solidFill>
                <a:latin typeface="Calibri" pitchFamily="34" charset="0"/>
                <a:cs typeface="Calibri" pitchFamily="34" charset="-120"/>
              </a:rPr>
              <a:t>Aspect </a:t>
            </a:r>
            <a:r>
              <a:rPr lang="en-US" sz="1100" b="1" dirty="0" err="1">
                <a:solidFill>
                  <a:srgbClr val="2B1419"/>
                </a:solidFill>
                <a:latin typeface="Calibri" pitchFamily="34" charset="0"/>
                <a:cs typeface="Calibri" pitchFamily="34" charset="-120"/>
              </a:rPr>
              <a:t>Etiketleme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129784" y="585216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</a:t>
            </a:r>
            <a:r>
              <a:rPr lang="en-US" sz="900" i="1" dirty="0" err="1">
                <a:solidFill>
                  <a:srgbClr val="5C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</a:t>
            </a:r>
            <a:r>
              <a:rPr lang="en-US" sz="900" i="1" dirty="0">
                <a:solidFill>
                  <a:srgbClr val="5C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her </a:t>
            </a:r>
            <a:r>
              <a:rPr lang="en-US" sz="900" i="1" dirty="0" err="1">
                <a:solidFill>
                  <a:srgbClr val="5C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boyut</a:t>
            </a:r>
            <a:r>
              <a:rPr lang="en-US" sz="900" i="1" dirty="0">
                <a:solidFill>
                  <a:srgbClr val="5C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>
                <a:solidFill>
                  <a:srgbClr val="5C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için</a:t>
            </a:r>
            <a:r>
              <a:rPr lang="en-US" sz="900" i="1" dirty="0">
                <a:solidFill>
                  <a:srgbClr val="5C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>
                <a:solidFill>
                  <a:srgbClr val="5C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7260336" y="5166360"/>
            <a:ext cx="222199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7" name="Text 34"/>
          <p:cNvSpPr/>
          <p:nvPr/>
        </p:nvSpPr>
        <p:spPr>
          <a:xfrm>
            <a:off x="7397496" y="52303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7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>
              <a:solidFill>
                <a:srgbClr val="FF7F00"/>
              </a:solidFill>
            </a:endParaRPr>
          </a:p>
        </p:txBody>
      </p:sp>
      <p:sp>
        <p:nvSpPr>
          <p:cNvPr id="38" name="Text 35"/>
          <p:cNvSpPr/>
          <p:nvPr/>
        </p:nvSpPr>
        <p:spPr>
          <a:xfrm>
            <a:off x="7397496" y="5577840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397496" y="585216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%80/%20, stratified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9528048" y="5166360"/>
            <a:ext cx="222199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1" name="Text 38"/>
          <p:cNvSpPr/>
          <p:nvPr/>
        </p:nvSpPr>
        <p:spPr>
          <a:xfrm>
            <a:off x="9665208" y="52303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7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>
              <a:solidFill>
                <a:srgbClr val="FF7F00"/>
              </a:solidFill>
            </a:endParaRPr>
          </a:p>
        </p:txBody>
      </p:sp>
      <p:sp>
        <p:nvSpPr>
          <p:cNvPr id="42" name="Text 39"/>
          <p:cNvSpPr/>
          <p:nvPr/>
        </p:nvSpPr>
        <p:spPr>
          <a:xfrm>
            <a:off x="9665208" y="5577840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Vektörleştirme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9665208" y="585216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(1-2 gram, max 5000)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>
              <a:solidFill>
                <a:srgbClr val="FF7F00"/>
              </a:solidFill>
            </a:endParaRPr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9110E228-42E7-EB63-51CF-D0A3E1B8FCEC}"/>
              </a:ext>
            </a:extLst>
          </p:cNvPr>
          <p:cNvSpPr/>
          <p:nvPr/>
        </p:nvSpPr>
        <p:spPr>
          <a:xfrm>
            <a:off x="10012680" y="3882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4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</a:t>
            </a:r>
            <a:endParaRPr lang="en-US" sz="1300" dirty="0"/>
          </a:p>
        </p:txBody>
      </p:sp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FF7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>
              <a:solidFill>
                <a:srgbClr val="FF7F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051560" y="411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7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Yöntem &amp; Yol Haritası</a:t>
            </a:r>
            <a:endParaRPr lang="en-US" sz="3200" dirty="0">
              <a:solidFill>
                <a:srgbClr val="FF7F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5156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paralel görev (sentiment + aspect), klasik ML ve transfer learning karşılaştırması</a:t>
            </a:r>
            <a:endParaRPr lang="en-US" sz="1300" dirty="0">
              <a:solidFill>
                <a:srgbClr val="FF7F0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5778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577840" cy="502920"/>
          </a:xfrm>
          <a:prstGeom prst="rect">
            <a:avLst/>
          </a:prstGeom>
          <a:solidFill>
            <a:srgbClr val="FF7F00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 1 · SENTIMENT CLASSIFICATION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sınıflı: </a:t>
            </a:r>
            <a:r>
              <a:rPr lang="en-US" sz="13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</a:t>
            </a:r>
            <a:r>
              <a:rPr lang="en-US" sz="1300" b="1" dirty="0">
                <a:solidFill>
                  <a:srgbClr val="2B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3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</a:t>
            </a:r>
            <a:r>
              <a:rPr lang="en-US" sz="1300" b="1" dirty="0">
                <a:solidFill>
                  <a:srgbClr val="2B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3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</a:t>
            </a:r>
            <a:endParaRPr lang="en-US" sz="13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7F00"/>
                </a:solidFill>
              </a:rPr>
              <a:t>Yaklaşım 1 (Baseline): </a:t>
            </a:r>
            <a:endParaRPr lang="en-US" sz="1200" dirty="0">
              <a:solidFill>
                <a:srgbClr val="FF7F00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2B1419"/>
                </a:solidFill>
              </a:rPr>
              <a:t>TF-IDF (1-2 gram) + Logistic Regression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B1419"/>
                </a:solidFill>
              </a:rPr>
              <a:t>TF-IDF + Linear SVM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7F00"/>
                </a:solidFill>
              </a:rPr>
              <a:t>Yaklaşım 2 (Transfer Learning): </a:t>
            </a:r>
            <a:endParaRPr lang="en-US" sz="1200" dirty="0">
              <a:solidFill>
                <a:srgbClr val="FF7F00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2B1419"/>
                </a:solidFill>
              </a:rPr>
              <a:t>BERTurk fine-tuning (dbmdz/bert-base-turkish-cased)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55778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577840" cy="502920"/>
          </a:xfrm>
          <a:prstGeom prst="rect">
            <a:avLst/>
          </a:prstGeom>
          <a:solidFill>
            <a:schemeClr val="tx1"/>
          </a:solidFill>
          <a:ln w="12700">
            <a:solidFill>
              <a:srgbClr val="A26769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12" name="Text 10"/>
          <p:cNvSpPr/>
          <p:nvPr/>
        </p:nvSpPr>
        <p:spPr>
          <a:xfrm>
            <a:off x="6355080" y="14630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 2 · ASPECT CLASSIFICATION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0" y="21031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Multi-label: KARGO, KALİTE, FİYAT, BATARYA, MEDYA, AMBALAJ, HİZMET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60604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7F00"/>
                </a:solidFill>
              </a:rPr>
              <a:t>Yaklaşım 1</a:t>
            </a:r>
            <a:r>
              <a:rPr lang="en-US" sz="1200" b="1" dirty="0">
                <a:solidFill>
                  <a:srgbClr val="6D2E46"/>
                </a:solidFill>
              </a:rPr>
              <a:t>: 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B1419"/>
                </a:solidFill>
              </a:rPr>
              <a:t>Anahtar kelime sözlüğü (mevcut, geliştirilecek)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7F00"/>
                </a:solidFill>
              </a:rPr>
              <a:t>Yaklaşım 2</a:t>
            </a:r>
            <a:r>
              <a:rPr lang="en-US" sz="1200" b="1" dirty="0">
                <a:solidFill>
                  <a:srgbClr val="6D2E46"/>
                </a:solidFill>
              </a:rPr>
              <a:t>: 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B1419"/>
                </a:solidFill>
              </a:rPr>
              <a:t>TF-IDF + One-vs-Rest sınıflandırıcı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B1419"/>
                </a:solidFill>
              </a:rPr>
              <a:t>BERTurk multi-label fine-tuning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7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Değerlendirme Metrikleri</a:t>
            </a:r>
            <a:endParaRPr lang="en-US" sz="1400" dirty="0">
              <a:solidFill>
                <a:srgbClr val="FF7F00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5166360"/>
            <a:ext cx="3749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Shape 15"/>
          <p:cNvSpPr/>
          <p:nvPr/>
        </p:nvSpPr>
        <p:spPr>
          <a:xfrm>
            <a:off x="457200" y="5166360"/>
            <a:ext cx="3749040" cy="9144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Text 16"/>
          <p:cNvSpPr/>
          <p:nvPr/>
        </p:nvSpPr>
        <p:spPr>
          <a:xfrm>
            <a:off x="640080" y="5349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&amp; F1-Score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7150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bazlı precision, recall, F1, weighted avg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74820" y="5166360"/>
            <a:ext cx="3749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" name="Shape 19"/>
          <p:cNvSpPr/>
          <p:nvPr/>
        </p:nvSpPr>
        <p:spPr>
          <a:xfrm>
            <a:off x="4274820" y="5166360"/>
            <a:ext cx="3749040" cy="9144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" name="Text 20"/>
          <p:cNvSpPr/>
          <p:nvPr/>
        </p:nvSpPr>
        <p:spPr>
          <a:xfrm>
            <a:off x="4457700" y="5349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57700" y="57150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sınıflar birbirine karışıyor görselleştirme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92440" y="5166360"/>
            <a:ext cx="3749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5" name="Shape 23"/>
          <p:cNvSpPr/>
          <p:nvPr/>
        </p:nvSpPr>
        <p:spPr>
          <a:xfrm>
            <a:off x="8092440" y="5166360"/>
            <a:ext cx="3749040" cy="9144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6" name="Text 24"/>
          <p:cNvSpPr/>
          <p:nvPr/>
        </p:nvSpPr>
        <p:spPr>
          <a:xfrm>
            <a:off x="8275320" y="5349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(multi-class)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75320" y="57150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Eşik bağımsız genel ayrıştırma performansı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>
              <a:solidFill>
                <a:srgbClr val="FF7F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592</Words>
  <Application>Microsoft Macintosh PowerPoint</Application>
  <PresentationFormat>Widescreen</PresentationFormat>
  <Paragraphs>135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Aspect-Based Duygu Analizi - Ön Sunum</dc:title>
  <dc:subject>PptxGenJS Presentation</dc:subject>
  <dc:creator>Dilara Çatalçam, Ahmet Çağlar, İbrahim Biner</dc:creator>
  <cp:lastModifiedBy>dilara çatalçam</cp:lastModifiedBy>
  <cp:revision>4</cp:revision>
  <dcterms:created xsi:type="dcterms:W3CDTF">2026-04-28T21:22:27Z</dcterms:created>
  <dcterms:modified xsi:type="dcterms:W3CDTF">2026-04-29T11:18:12Z</dcterms:modified>
</cp:coreProperties>
</file>